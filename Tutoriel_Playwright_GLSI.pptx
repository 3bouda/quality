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3"/>
    <p:sldId id="257" r:id="rId4"/>
    <p:sldId id="258" r:id="rId5"/>
    <p:sldId id="259" r:id="rId6"/>
    <p:sldId id="284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3" r:id="rId24"/>
    <p:sldId id="276" r:id="rId25"/>
    <p:sldId id="285" r:id="rId26"/>
    <p:sldId id="277" r:id="rId27"/>
    <p:sldId id="278" r:id="rId28"/>
    <p:sldId id="279" r:id="rId29"/>
    <p:sldId id="280" r:id="rId30"/>
    <p:sldId id="281" r:id="rId31"/>
    <p:sldId id="282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A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2EAD33"/>
                </a:solidFill>
                <a:latin typeface="Segoe UI" panose="020B0502040204020203"/>
              </a:defRPr>
            </a:pPr>
            <a:r>
              <a:t>🎭 PLAYWRIGHT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 panose="020B0502040204020203"/>
              </a:defRPr>
            </a:pPr>
            <a:r>
              <a:t>Guide d'Utilisation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0E0E0"/>
                </a:solidFill>
                <a:latin typeface="Segoe UI" panose="020B0502040204020203"/>
              </a:defRPr>
            </a:pPr>
            <a:r>
              <a:t>Outil de Test Automatisé pour Applications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4815840" cy="829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E0E0E0"/>
                </a:solidFill>
                <a:latin typeface="Segoe UI" panose="020B0502040204020203"/>
              </a:defRPr>
            </a:pPr>
            <a:r>
              <a:t>Cours : </a:t>
            </a:r>
            <a:r>
              <a:rPr lang="en-US" altLang="en-US"/>
              <a:t>Qualité logicielle et automatisation des tests</a:t>
            </a:r>
            <a:endParaRPr lang="en-US" altLang="en-US"/>
          </a:p>
          <a:p>
            <a:pPr algn="l">
              <a:defRPr sz="1600">
                <a:solidFill>
                  <a:srgbClr val="E0E0E0"/>
                </a:solidFill>
                <a:latin typeface="Segoe UI" panose="020B0502040204020203"/>
              </a:defRPr>
            </a:pPr>
            <a:r>
              <a:t>Classe : GLSI</a:t>
            </a:r>
            <a:r>
              <a:rPr lang="en-US"/>
              <a:t> A</a:t>
            </a:r>
            <a:endParaRPr lang="en-US"/>
          </a:p>
          <a:p>
            <a:pPr algn="l">
              <a:defRPr sz="1600">
                <a:solidFill>
                  <a:srgbClr val="E0E0E0"/>
                </a:solidFill>
                <a:latin typeface="Segoe UI" panose="020B0502040204020203"/>
              </a:defRPr>
            </a:pPr>
            <a:r>
              <a:rPr lang="en-US"/>
              <a:t>Mohamed Iheb Abdelali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📋 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 panose="020B0502040204020203"/>
              </a:defRPr>
            </a:pPr>
            <a:r>
              <a:t>1. Présentation Générale de Playwright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 panose="020B0502040204020203"/>
              </a:defRPr>
            </a:pPr>
            <a:r>
              <a:t>2. Installation et Paramétrage Détaillé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 panose="020B0502040204020203"/>
              </a:defRPr>
            </a:pPr>
            <a:r>
              <a:t>3. Mode d'Utilisation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 panose="020B0502040204020203"/>
              </a:defRPr>
            </a:pPr>
            <a:r>
              <a:t>4. Types de Résultats Générés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 panose="020B0502040204020203"/>
              </a:defRPr>
            </a:pPr>
            <a:r>
              <a:t>5. Notifications et Alertes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 panose="020B0502040204020203"/>
              </a:defRPr>
            </a:pPr>
            <a:r>
              <a:t>6. Rapports Générés et leur Interprétation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 panose="020B0502040204020203"/>
              </a:defRPr>
            </a:pPr>
            <a:r>
              <a:t>7. Cas Pratique : Application OWASP Juice Shop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 panose="020B0502040204020203"/>
              </a:defRPr>
            </a:pPr>
            <a:r>
              <a:t>8.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89026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rPr>
                <a:solidFill>
                  <a:srgbClr val="2EAD33"/>
                </a:solidFill>
              </a:rPr>
              <a:t>1 Présentation Générale</a:t>
            </a:r>
            <a:endParaRPr>
              <a:solidFill>
                <a:srgbClr val="2EAD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15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🎭 Qu'est-ce que Playwright ?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Framework de test end-to-end (E2E) développé par Microsoft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Open Source et gratuit (Licence Apache 2.0)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Supporte plusieurs langages : TypeScript, JavaScript, Python, .NET, Java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🌐 Navigateurs Supportés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Chromium (Chrome, Edge)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Firefox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WebKit (Safari)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⚡ Caractéristiques Principales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Exécution rapide et parallèle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Auto-wait intelligent (attend automatiquement les éléments)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Capture d'écran et vidéo automatiques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Isolation parfaite des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✨ Avantages de Playwright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Fonctionnalité</a:t>
                      </a:r>
                    </a:p>
                  </a:txBody>
                  <a:tcPr>
                    <a:solidFill>
                      <a:srgbClr val="2EA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EA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Bénéfice</a:t>
                      </a:r>
                    </a:p>
                  </a:txBody>
                  <a:tcPr>
                    <a:solidFill>
                      <a:srgbClr val="2EA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Auto-waiting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Attend les éléments automatiquement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Moins de tests instables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Multi-navigateur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Chrome, Firefox, Safari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Couverture complète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Parallélisation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Exécution simultanée des tests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Gain de temps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Trace Viewer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Débogage visuel complet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Diagnostic facile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API Testing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Tests REST/GraphQL intégrés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Tests complets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Mode Headless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Sans interface graphique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Idéal pour CI/CD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" y="1390015"/>
            <a:ext cx="8973185" cy="3509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6034405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rPr>
                <a:solidFill>
                  <a:srgbClr val="2EAD33"/>
                </a:solidFill>
              </a:rPr>
              <a:t>2 Installation - Prérequis</a:t>
            </a:r>
            <a:endParaRPr>
              <a:solidFill>
                <a:srgbClr val="2EAD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📋 Prérequis Système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Node.js version 18 ou supérieure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npm ou yarn comme gestionnaire de paquets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Système d'exploitation : Windows 10+, macOS 12+, Ubuntu 20.04+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💾 Espace Disque Requis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~500 Mo pour les navigateurs Chromium, Firefox, WebKit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~100 Mo pour Playwright lui-même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🔧 Vérification de Node.js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572000"/>
            <a:ext cx="8229600" cy="1097280"/>
          </a:xfrm>
          <a:prstGeom prst="round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E0A0"/>
                </a:solidFill>
                <a:latin typeface="Consolas" panose="020B0609020204030204"/>
              </a:defRPr>
            </a:pPr>
            <a:r>
              <a:t>node --version    # Doit afficher v18.x.x ou supérieur</a:t>
            </a:r>
            <a:br/>
            <a:r>
              <a:t>npm --version     # Doit afficher 8.x.x ou supérieur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695315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📥 </a:t>
            </a:r>
            <a:r>
              <a:rPr lang="en-US"/>
              <a:t> </a:t>
            </a:r>
            <a:r>
              <a:t>Installation -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Étape 1️⃣ : Créer un nouveau projet Playwright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8229600" cy="2286000"/>
          </a:xfrm>
          <a:prstGeom prst="round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E0A0"/>
                </a:solidFill>
                <a:latin typeface="Consolas" panose="020B0609020204030204"/>
              </a:defRPr>
            </a:pPr>
            <a:r>
              <a:t># Initialiser un nouveau projet</a:t>
            </a:r>
            <a:br/>
            <a:r>
              <a:t>npm init playwright@latest</a:t>
            </a:r>
            <a:br/>
            <a:br/>
            <a:r>
              <a:t># Options proposées :</a:t>
            </a:r>
            <a:br/>
            <a:r>
              <a:t># - Choisir TypeScript ou JavaScript</a:t>
            </a:r>
            <a:br/>
            <a:r>
              <a:t># - Nom du dossier de tests (tests par défaut)</a:t>
            </a:r>
            <a:br/>
            <a:r>
              <a:t># - Ajouter un workflow GitHub Actions</a:t>
            </a:r>
            <a:br/>
            <a:r>
              <a:t># - Installer les navigateurs automatiquement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Étape 2️⃣ : Installer les navigateurs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8229600" cy="731520"/>
          </a:xfrm>
          <a:prstGeom prst="round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E0A0"/>
                </a:solidFill>
                <a:latin typeface="Consolas" panose="020B0609020204030204"/>
              </a:defRPr>
            </a:pPr>
            <a:r>
              <a:t>npx playwright install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513705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📁 </a:t>
            </a:r>
            <a:r>
              <a:rPr lang="en-US"/>
              <a:t> </a:t>
            </a:r>
            <a:r>
              <a:t>Structure du Projet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8229600" cy="3200400"/>
          </a:xfrm>
          <a:prstGeom prst="round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90090"/>
            <a:ext cx="786384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E0A0"/>
                </a:solidFill>
                <a:latin typeface="Consolas" panose="020B0609020204030204"/>
              </a:defRPr>
            </a:pPr>
            <a:r>
              <a:t>mon-projet/</a:t>
            </a:r>
            <a:br/>
            <a:r>
              <a:t>├── playwright.config.ts    # Configuration principale</a:t>
            </a:r>
            <a:br/>
            <a:r>
              <a:t>├── package.json            # Dépendances npm</a:t>
            </a:r>
            <a:br/>
            <a:r>
              <a:t>├── tests/                  # Dossier des tests</a:t>
            </a:r>
            <a:br/>
            <a:r>
              <a:t>│   ├── example.spec.ts     # Exemple de test</a:t>
            </a:r>
            <a:br/>
            <a:r>
              <a:t>│   └── auth.spec.ts        # Tests d'authentification</a:t>
            </a:r>
            <a:br/>
            <a:r>
              <a:t>├── tests-examples/         # Exemples fournis par Playwright</a:t>
            </a:r>
            <a:br/>
            <a:r>
              <a:rPr>
                <a:sym typeface="+mn-ea"/>
              </a:rPr>
              <a:t>└── </a:t>
            </a:r>
            <a:r>
              <a:t> playwright-report/      # Rapports HTML générés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 panose="020B0502040204020203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 panose="020B0502040204020203"/>
              </a:defRPr>
            </a:pPr>
            <a:r>
              <a:t>📌 Fichiers Importants :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 panose="020B0502040204020203"/>
              </a:defRPr>
            </a:pPr>
            <a:r>
              <a:t>• playwright.config.ts : Configuration des navigateurs, timeouts, reporters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 panose="020B0502040204020203"/>
              </a:defRPr>
            </a:pPr>
            <a:r>
              <a:t>• *.spec.ts : Fichiers de test (convention de nommage)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 panose="020B0502040204020203"/>
              </a:defRPr>
            </a:pPr>
            <a:r>
              <a:t>• playwright-report/ : Rapports HTML interactifs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41565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 panose="020B0502040204020203"/>
              </a:defRPr>
            </a:pPr>
            <a:r>
              <a:t>⚙Configuration (playwright.config.ts)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5029200"/>
          </a:xfrm>
          <a:prstGeom prst="round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E0A0"/>
                </a:solidFill>
                <a:latin typeface="Consolas" panose="020B0609020204030204"/>
              </a:defRPr>
            </a:pPr>
            <a:r>
              <a:t>import { defineConfig, devices } from '@playwright/test';</a:t>
            </a:r>
            <a:br/>
            <a:br/>
            <a:r>
              <a:t>export default defineConfig({</a:t>
            </a:r>
            <a:br/>
            <a:r>
              <a:t>    testDir: './tests',           // Dossier des tests</a:t>
            </a:r>
            <a:br/>
            <a:r>
              <a:t>    fullyParallel: true,          // Exécution parallèle</a:t>
            </a:r>
            <a:br/>
            <a:r>
              <a:t>    forbidOnly: !!process.env.CI, // Pas de .only en CI</a:t>
            </a:r>
            <a:br/>
            <a:r>
              <a:t>    retries: process.env.CI ? 2 : 0, // Retries en CI</a:t>
            </a:r>
            <a:br/>
            <a:r>
              <a:t>    reporter: 'html',             // Rapport HTML</a:t>
            </a:r>
            <a:br/>
            <a:r>
              <a:t>    </a:t>
            </a:r>
            <a:br/>
            <a:r>
              <a:t>    use: {</a:t>
            </a:r>
            <a:br/>
            <a:r>
              <a:t>        baseURL: 'http://localhost:3000',  // URL de base</a:t>
            </a:r>
            <a:br/>
            <a:r>
              <a:t>        trace: 'on-first-retry',           // Traces au retry</a:t>
            </a:r>
            <a:br/>
            <a:r>
              <a:t>        screenshot: 'only-on-failure',     // Screenshots sur échec</a:t>
            </a:r>
            <a:br/>
            <a:r>
              <a:t>        video: 'retain-on-failure',        // Vidéos sur échec</a:t>
            </a:r>
            <a:br/>
            <a:r>
              <a:t>    },</a:t>
            </a:r>
            <a:br/>
            <a:r>
              <a:t>    </a:t>
            </a:r>
            <a:br/>
            <a:r>
              <a:t>    projects: [</a:t>
            </a:r>
            <a:br/>
            <a:r>
              <a:t>        { name: 'chromium', use: { ...devices['Desktop Chrome'] } },</a:t>
            </a:r>
            <a:br/>
            <a:r>
              <a:t>        { name: 'firefox', use: { ...devices['Desktop Firefox'] } },</a:t>
            </a:r>
            <a:br/>
            <a:r>
              <a:t>        { name: 'webkit', use: { ...devices['Desktop Safari'] } },</a:t>
            </a:r>
            <a:br/>
            <a:r>
              <a:t>    ],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50900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 panose="020B0502040204020203"/>
              </a:defRPr>
            </a:pPr>
            <a:r>
              <a:rPr>
                <a:solidFill>
                  <a:srgbClr val="2EAD33"/>
                </a:solidFill>
              </a:rPr>
              <a:t>3 Mode d'Utilisation - Écriture de Tests</a:t>
            </a:r>
            <a:endParaRPr>
              <a:solidFill>
                <a:srgbClr val="2EAD33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5029200"/>
          </a:xfrm>
          <a:prstGeom prst="round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E0A0"/>
                </a:solidFill>
                <a:latin typeface="Consolas" panose="020B0609020204030204"/>
              </a:defRPr>
            </a:pPr>
            <a:r>
              <a:t>import { test, expect } from '@playwright/test';</a:t>
            </a:r>
            <a:br/>
            <a:br/>
            <a:r>
              <a:t>test.describe('Tests de Connexion', () =&gt; {</a:t>
            </a:r>
            <a:br/>
            <a:r>
              <a:t>    </a:t>
            </a:r>
            <a:br/>
            <a:r>
              <a:t>    test('connexion avec identifiants valides', async ({ page }) =&gt; {</a:t>
            </a:r>
            <a:br/>
            <a:r>
              <a:t>        // Navigation vers la page de login</a:t>
            </a:r>
            <a:br/>
            <a:r>
              <a:t>        await page.goto('/login');</a:t>
            </a:r>
            <a:br/>
            <a:r>
              <a:t>        </a:t>
            </a:r>
            <a:br/>
            <a:r>
              <a:t>        // Remplir le formulaire</a:t>
            </a:r>
            <a:br/>
            <a:r>
              <a:t>        await page.fill('input#email', 'user@example.com');</a:t>
            </a:r>
            <a:br/>
            <a:r>
              <a:t>        await page.fill('input#password', 'password123');</a:t>
            </a:r>
            <a:br/>
            <a:r>
              <a:t>        </a:t>
            </a:r>
            <a:br/>
            <a:r>
              <a:t>        // Cliquer sur le bouton de connexion</a:t>
            </a:r>
            <a:br/>
            <a:r>
              <a:t>        await page.click('button#loginButton');</a:t>
            </a:r>
            <a:br/>
            <a:r>
              <a:t>        </a:t>
            </a:r>
            <a:br/>
            <a:r>
              <a:t>        // Vérifier la redirection</a:t>
            </a:r>
            <a:br/>
            <a:r>
              <a:t>        await expect(page).toHaveURL('/dashboard');</a:t>
            </a:r>
            <a:br/>
            <a:r>
              <a:t>        </a:t>
            </a:r>
            <a:br/>
            <a:r>
              <a:t>        // Vérifier le message de bienvenue</a:t>
            </a:r>
            <a:br/>
            <a:r>
              <a:t>        await expect(page.locator('.welcome')).toContainText('Bienvenue');</a:t>
            </a:r>
            <a:br/>
            <a:r>
              <a:t>    });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🎯 Sélecteurs et Locateurs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EA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Exemple</a:t>
                      </a:r>
                    </a:p>
                  </a:txBody>
                  <a:tcPr>
                    <a:solidFill>
                      <a:srgbClr val="2EA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Recommandé</a:t>
                      </a:r>
                    </a:p>
                  </a:txBody>
                  <a:tcPr>
                    <a:solidFill>
                      <a:srgbClr val="2EA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page.locator('#submit-button')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✅ Oui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CSS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page.locator('.btn-primary')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✅ Oui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Texte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page.getByText('Connexion')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✅ Oui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page.getByRole('button', { name: 'Login' })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✅ Excellent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Label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page.getByLabel('Email')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✅ Excellent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Placeholder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page.getByPlaceholder('Entrez email')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✅ Oui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XPath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page.locator('//div[@class="x"]')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⚠️ À éviter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✅ Assertions Principales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4572000"/>
          </a:xfrm>
          <a:prstGeom prst="round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E0A0"/>
                </a:solidFill>
                <a:latin typeface="Consolas" panose="020B0609020204030204"/>
              </a:defRPr>
            </a:pPr>
            <a:r>
              <a:t>// Assertions sur la page</a:t>
            </a:r>
            <a:br/>
            <a:r>
              <a:t>await expect(page).toHaveTitle('Ma Page');</a:t>
            </a:r>
            <a:br/>
            <a:r>
              <a:t>await expect(page).toHaveURL(/.*dashboard/);</a:t>
            </a:r>
            <a:br/>
            <a:br/>
            <a:r>
              <a:t>// Assertions sur les éléments</a:t>
            </a:r>
            <a:br/>
            <a:r>
              <a:t>await expect(page.locator('.item')).toBeVisible();</a:t>
            </a:r>
            <a:br/>
            <a:r>
              <a:t>await expect(page.locator('.item')).toBeHidden();</a:t>
            </a:r>
            <a:br/>
            <a:r>
              <a:t>await expect(page.locator('.item')).toBeEnabled();</a:t>
            </a:r>
            <a:br/>
            <a:r>
              <a:t>await expect(page.locator('.item')).toBeDisabled();</a:t>
            </a:r>
            <a:br/>
            <a:r>
              <a:t>await expect(page.locator('.item')).toContainText('Texte');</a:t>
            </a:r>
            <a:br/>
            <a:r>
              <a:t>await expect(page.locator('.item')).toHaveText('Texte exact');</a:t>
            </a:r>
            <a:br/>
            <a:r>
              <a:t>await expect(page.locator('.item')).toHaveValue('valeur');</a:t>
            </a:r>
            <a:br/>
            <a:r>
              <a:t>await expect(page.locator('.item')).toHaveCount(5);</a:t>
            </a:r>
            <a:br/>
            <a:r>
              <a:t>await expect(page.locator('.item')).toHaveAttribute('href', '/link');</a:t>
            </a:r>
            <a:br/>
            <a:r>
              <a:t>await expect(page.locator('.item')).toHaveClass(/active/);</a:t>
            </a:r>
            <a:br/>
            <a:r>
              <a:t>await expect(page.locator('.item')).toHaveCSS('color', 'rgb(0, 0, 0)');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7970"/>
            <a:ext cx="4901565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🌐 </a:t>
            </a:r>
            <a:r>
              <a:rPr lang="en-US"/>
              <a:t> </a:t>
            </a:r>
            <a:r>
              <a:t>Tests d'API REST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9255" y="1050290"/>
            <a:ext cx="8229600" cy="5530850"/>
          </a:xfrm>
          <a:prstGeom prst="round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9830" y="1370965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E0A0"/>
                </a:solidFill>
                <a:latin typeface="Consolas" panose="020B0609020204030204"/>
              </a:defRPr>
            </a:pPr>
            <a:r>
              <a:t>import { test, expect } from '@playwright/test';</a:t>
            </a:r>
            <a:br/>
            <a:br/>
            <a:r>
              <a:t>test.describe('Tests API', () =&gt; {</a:t>
            </a:r>
            <a:br/>
            <a:r>
              <a:t>    </a:t>
            </a:r>
            <a:br/>
            <a:r>
              <a:t>    test('GET - Liste des produits', async ({ request }) =&gt; {</a:t>
            </a:r>
            <a:br/>
            <a:r>
              <a:t>        const response = await request.get('/api/products');</a:t>
            </a:r>
            <a:br/>
            <a:r>
              <a:t>        </a:t>
            </a:r>
            <a:br/>
            <a:r>
              <a:t>        expect(response.ok()).toBeTruthy();</a:t>
            </a:r>
            <a:br/>
            <a:r>
              <a:t>        expect(response.status()).toBe(200);</a:t>
            </a:r>
            <a:br/>
            <a:r>
              <a:t>        </a:t>
            </a:r>
            <a:br/>
            <a:r>
              <a:t>        const body = await response.json();</a:t>
            </a:r>
            <a:br/>
            <a:r>
              <a:t>        expect(body.data.length).toBeGreaterThan(0);</a:t>
            </a:r>
            <a:br/>
            <a:r>
              <a:t>    });</a:t>
            </a:r>
            <a:br/>
            <a:r>
              <a:t>    </a:t>
            </a:r>
            <a:br/>
            <a:r>
              <a:t>    test('POST - Authentification', async ({ request }) =&gt; {</a:t>
            </a:r>
            <a:br/>
            <a:r>
              <a:t>        const response = await request.post('/api/login', {</a:t>
            </a:r>
            <a:br/>
            <a:r>
              <a:t>            data: {</a:t>
            </a:r>
            <a:br/>
            <a:r>
              <a:t>                email: 'user@example.com',</a:t>
            </a:r>
            <a:br/>
            <a:r>
              <a:t>                password: 'password123'</a:t>
            </a:r>
            <a:br/>
            <a:r>
              <a:t>            }</a:t>
            </a:r>
            <a:br/>
            <a:r>
              <a:t>        });</a:t>
            </a:r>
            <a:br/>
            <a:r>
              <a:t>        </a:t>
            </a:r>
            <a:br/>
            <a:r>
              <a:t>        expect(response.status()).toBe(200);</a:t>
            </a:r>
            <a:br/>
            <a:r>
              <a:t>        const body = await response.json();</a:t>
            </a:r>
            <a:br/>
            <a:r>
              <a:t>        expect(body.token).toBeDefined();</a:t>
            </a:r>
            <a:br/>
            <a:r>
              <a:t>    });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▶️ Commandes d'Exécution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Commande</a:t>
                      </a:r>
                    </a:p>
                  </a:txBody>
                  <a:tcPr>
                    <a:solidFill>
                      <a:srgbClr val="2EA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EA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npx playwright test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Exécuter tous les tests (headless)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npx playwright test --headed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Exécuter avec interface graphique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npx playwright test --ui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Mode interactif (UI Mode)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npx playwright test login.spec.ts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Exécuter un fichier spécifique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npx playwright test --grep 'login'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Filtrer par nom de test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npx playwright test --project=chromium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Navigateur spécifique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npx playwright test --debug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Mode debug avec breakpoints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npx playwright codegen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Générateur de code automatique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npx playwright show-report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Afficher le rapport HTML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7720" y="163195"/>
            <a:ext cx="706374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rPr>
                <a:solidFill>
                  <a:srgbClr val="2EAD33"/>
                </a:solidFill>
              </a:rPr>
              <a:t>4</a:t>
            </a:r>
            <a:r>
              <a:rPr lang="en-US">
                <a:solidFill>
                  <a:srgbClr val="2EAD33"/>
                </a:solidFill>
              </a:rPr>
              <a:t> </a:t>
            </a:r>
            <a:r>
              <a:rPr>
                <a:solidFill>
                  <a:srgbClr val="2EAD33"/>
                </a:solidFill>
              </a:rPr>
              <a:t>Types de Résultats Générés</a:t>
            </a:r>
            <a:endParaRPr>
              <a:solidFill>
                <a:srgbClr val="2EAD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0050" y="963295"/>
            <a:ext cx="8229600" cy="5574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📊 </a:t>
            </a:r>
            <a:r>
              <a:rPr lang="en-US"/>
              <a:t> </a:t>
            </a:r>
            <a:r>
              <a:t>Playwright génère plusieurs types de résultats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7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1</a:t>
            </a:r>
            <a:r>
              <a:rPr lang="en-US"/>
              <a:t> </a:t>
            </a:r>
            <a:r>
              <a:t>Rapport HTML Interactif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Vue d'ensemble des tests (passés/échoués)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Détails de chaque test avec durée d'exécution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Captures d'écran et vidéos intégrées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2</a:t>
            </a:r>
            <a:r>
              <a:rPr lang="en-US"/>
              <a:t> </a:t>
            </a:r>
            <a:r>
              <a:t>Traces (Trace Viewer)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Timeline complète de l'exécution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Snapshots DOM à chaque étape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Logs réseau et console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3</a:t>
            </a:r>
            <a:r>
              <a:rPr lang="en-US"/>
              <a:t> </a:t>
            </a:r>
            <a:r>
              <a:t>Screenshots et Vidéos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Capture automatique sur échec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Comparaison visuelle possible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4</a:t>
            </a:r>
            <a:r>
              <a:rPr lang="en-US"/>
              <a:t> </a:t>
            </a:r>
            <a:r>
              <a:t>Sortie Console (CLI)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Résumé rapide : ✅ passés, ❌ échoués, ⏭️ ignorés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3515" y="182245"/>
            <a:ext cx="8776335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📈 </a:t>
            </a:r>
            <a:r>
              <a:rPr lang="en-US"/>
              <a:t> </a:t>
            </a:r>
            <a:r>
              <a:t>Rapport HTML - 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635" y="963930"/>
            <a:ext cx="8229600" cy="5815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Le rapport HTML (npx playwright show-report) affiche 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📌 Informations Globales 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Nombre total de tests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Taux de réussite (% passés)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Durée totale d'exécution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Répartition par navigateur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📌 Par Test 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Statut : ✅ Passed / ❌ Failed / ⏭️ Skipped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Durée individuelle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Erreurs et stack traces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Screenshots attachés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Vidéos de l'exécution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📌 Filtrage 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Par statut (échecs uniquement)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Par fichier de test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Par navigateur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🔍 Trace Viewer - Débogage Avancé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15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Accès : npx playwright show-trace trace.zi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📌 Fonctionnalités du Trace Viewer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Timeline : Visualisation chronologique de chaque action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Snapshots : État du DOM avant/après chaque action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Console : Logs JavaScript de la page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Network : Toutes les requêtes HTTP avec détails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Source : Code du test avec ligne courante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Actions : Liste de toutes les actions Playwright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💡 Très utile pour diagnostiquer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Pourquoi un élément n'a pas été trouvé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Pourquoi une assertion a échoué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Les problèmes de timing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Les erreurs réseau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6147435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rPr>
                <a:solidFill>
                  <a:srgbClr val="2EAD33"/>
                </a:solidFill>
              </a:rPr>
              <a:t>5 Notifications et Alertes</a:t>
            </a:r>
            <a:endParaRPr>
              <a:solidFill>
                <a:srgbClr val="2EAD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15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🔔 Playwright offre plusieurs mécanismes de notification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1</a:t>
            </a:r>
            <a:r>
              <a:rPr lang="en-US"/>
              <a:t> </a:t>
            </a:r>
            <a:r>
              <a:t>Sortie Console (Terminal)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Affichage en temps réel des tests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Codes couleur : vert (passé), rouge (échoué)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Résumé final avec statistiques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2</a:t>
            </a:r>
            <a:r>
              <a:rPr lang="en-US"/>
              <a:t> </a:t>
            </a:r>
            <a:r>
              <a:t>Intégration CI/CD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GitHub Actions : Commentaires sur PR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Jenkins, GitLab CI : Rapports JUnit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Slack/Teams : Webhooks personnalisés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3</a:t>
            </a:r>
            <a:r>
              <a:rPr lang="en-US"/>
              <a:t> </a:t>
            </a:r>
            <a:r>
              <a:t>Reporters Personnalisés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Reporter JSON pour intégration tiers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Reporter JUnit pour outils CI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Reporter personnalisé (API JavaScript)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⚡ Configuration des Alertes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3657600"/>
          </a:xfrm>
          <a:prstGeom prst="round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E0A0"/>
                </a:solidFill>
                <a:latin typeface="Consolas" panose="020B0609020204030204"/>
              </a:defRPr>
            </a:pPr>
            <a:r>
              <a:t>// playwright.config.ts - Multiples reporters</a:t>
            </a:r>
            <a:br/>
            <a:r>
              <a:t>export default defineConfig({</a:t>
            </a:r>
            <a:br/>
            <a:r>
              <a:t>    reporter: [</a:t>
            </a:r>
            <a:br/>
            <a:r>
              <a:t>        ['list'],                    // Console en temps réel</a:t>
            </a:r>
            <a:br/>
            <a:r>
              <a:t>        ['html', { open: 'never' }], // Rapport HTML</a:t>
            </a:r>
            <a:br/>
            <a:r>
              <a:t>        ['json', { outputFile: 'results.json' }], // Pour parsing</a:t>
            </a:r>
            <a:br/>
            <a:r>
              <a:t>        ['junit', { outputFile: 'results.xml' }], // Pour CI/CD</a:t>
            </a:r>
            <a:br/>
            <a:r>
              <a:t>    ],</a:t>
            </a:r>
            <a:br/>
            <a:r>
              <a:t>    </a:t>
            </a:r>
            <a:br/>
            <a:r>
              <a:t>    // Timeouts et alertes</a:t>
            </a:r>
            <a:br/>
            <a:r>
              <a:t>    timeout: 30000,              // 30s par test</a:t>
            </a:r>
            <a:br/>
            <a:r>
              <a:t>    expect: {</a:t>
            </a:r>
            <a:br/>
            <a:r>
              <a:t>        timeout: 5000,           // 5s pour les assertions</a:t>
            </a:r>
            <a:br/>
            <a:r>
              <a:t>    },</a:t>
            </a:r>
            <a:br/>
            <a:r>
              <a:t>    </a:t>
            </a:r>
            <a:br/>
            <a:r>
              <a:t>    // Retries pour stabilité</a:t>
            </a:r>
            <a:br/>
            <a:r>
              <a:t>    retries: process.env.CI ? 2 : 0,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251065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rPr>
                <a:solidFill>
                  <a:srgbClr val="2EAD33"/>
                </a:solidFill>
              </a:rPr>
              <a:t>6 Interprétation des Rapports</a:t>
            </a:r>
            <a:endParaRPr>
              <a:solidFill>
                <a:srgbClr val="2EAD33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3209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6672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2EA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Signification</a:t>
                      </a:r>
                    </a:p>
                  </a:txBody>
                  <a:tcPr>
                    <a:solidFill>
                      <a:srgbClr val="2EA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Action Recommandée</a:t>
                      </a:r>
                    </a:p>
                  </a:txBody>
                  <a:tcPr>
                    <a:solidFill>
                      <a:srgbClr val="2EA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✅ </a:t>
                      </a:r>
                      <a:r>
                        <a:rPr lang="en-US"/>
                        <a:t> </a:t>
                      </a:r>
                      <a:r>
                        <a:t>Passed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Test réussi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Aucune action requise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❌ </a:t>
                      </a:r>
                      <a:r>
                        <a:rPr lang="en-US"/>
                        <a:t> </a:t>
                      </a:r>
                      <a:r>
                        <a:t>Failed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Assertion échouée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Analyser le message d'erreur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⏱ Timeout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Élément non trouvé à temps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Vérifier les sélecteurs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⏭ Skipped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Test ignoré (.skip)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Vérifier si intentionnel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🔄</a:t>
                      </a:r>
                      <a:r>
                        <a:rPr lang="en-US"/>
                        <a:t> </a:t>
                      </a:r>
                      <a:r>
                        <a:t> Flaky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Échec intermittent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Améliorer la stabilité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📊 </a:t>
                      </a:r>
                      <a:r>
                        <a:rPr lang="en-US"/>
                        <a:t> </a:t>
                      </a:r>
                      <a:r>
                        <a:t>Slow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Durée &gt; seuil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 panose="020B0502040204020203"/>
                        </a:defRPr>
                      </a:pPr>
                      <a:r>
                        <a:t>Optimiser le test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200015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AD33"/>
                </a:solidFill>
                <a:latin typeface="Segoe UI" panose="020B0502040204020203"/>
              </a:defRPr>
            </a:pPr>
            <a:r>
              <a:t>💡 Un taux de réussite &lt; 95% indique des problèmes de stabilité à résoudre 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87020"/>
            <a:ext cx="770509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 panose="020B0502040204020203"/>
              </a:defRPr>
            </a:pPr>
            <a:r>
              <a:rPr>
                <a:solidFill>
                  <a:srgbClr val="2EAD33"/>
                </a:solidFill>
              </a:rPr>
              <a:t>7 Cas Pratique : OWASP Juice Shop</a:t>
            </a:r>
            <a:endParaRPr>
              <a:solidFill>
                <a:srgbClr val="2EAD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83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🛒 Application de Test : OWASP Juice Shop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Application e-commerce volontairement vulnérable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Développée par OWASP pour l'apprentissage de la sécurité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Technologies : Angular + Node.js + SQLite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🧪 Tests Réalisés avec Playwright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1. Tests E2E (Interface Utilisateur)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Gestion du panier d'achat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Processus de connexion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Navigation dans les produits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2. Tests API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Authentification REST</a:t>
            </a:r>
          </a:p>
          <a:p>
            <a:pPr lvl="1"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Liste des produits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screenshot_after_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85" y="964565"/>
            <a:ext cx="8317230" cy="46786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686244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 panose="020B0502040204020203"/>
              </a:defRPr>
            </a:pPr>
            <a:r>
              <a:t>🛒 </a:t>
            </a:r>
            <a:r>
              <a:rPr lang="en-US"/>
              <a:t> </a:t>
            </a:r>
            <a:r>
              <a:t>Test E2E - Gestion du Panier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5303520"/>
          </a:xfrm>
          <a:prstGeom prst="round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E0A0"/>
                </a:solidFill>
                <a:latin typeface="Consolas" panose="020B0609020204030204"/>
              </a:defRPr>
            </a:pPr>
            <a:r>
              <a:t>test('Ajout d\'un article au panier', async ({ page }) =&gt; {</a:t>
            </a:r>
            <a:br/>
            <a:r>
              <a:t>    // Navigation vers l'accueil</a:t>
            </a:r>
            <a:br/>
            <a:r>
              <a:t>    await page.goto('/#/');</a:t>
            </a:r>
            <a:br/>
            <a:r>
              <a:t>    </a:t>
            </a:r>
            <a:br/>
            <a:r>
              <a:t>    // Fermer les popups initiales</a:t>
            </a:r>
            <a:br/>
            <a:r>
              <a:t>    await page.locator('button[aria-label="Close Welcome Banner"]').click();</a:t>
            </a:r>
            <a:br/>
            <a:r>
              <a:t>    </a:t>
            </a:r>
            <a:br/>
            <a:r>
              <a:t>    // Connexion de l'utilisateur</a:t>
            </a:r>
            <a:br/>
            <a:r>
              <a:t>    await page.locator('#navbarAccount').click();</a:t>
            </a:r>
            <a:br/>
            <a:r>
              <a:t>    await page.locator('#navbarLoginButton').click();</a:t>
            </a:r>
            <a:br/>
            <a:r>
              <a:t>    await page.fill('input#email', 'admin@juice-sh.op');</a:t>
            </a:r>
            <a:br/>
            <a:r>
              <a:t>    await page.fill('input#password', 'admin123');</a:t>
            </a:r>
            <a:br/>
            <a:r>
              <a:t>    await page.click('button#loginButton');</a:t>
            </a:r>
            <a:br/>
            <a:r>
              <a:t>    </a:t>
            </a:r>
            <a:br/>
            <a:r>
              <a:t>    // Ajouter un produit au panier</a:t>
            </a:r>
            <a:br/>
            <a:r>
              <a:t>    await page.locator('button[aria-label="Add to Basket"]').first().click();</a:t>
            </a:r>
            <a:br/>
            <a:r>
              <a:t>    </a:t>
            </a:r>
            <a:br/>
            <a:r>
              <a:t>    // Vérifier la notification</a:t>
            </a:r>
            <a:br/>
            <a:r>
              <a:t>    await expect(page.locator('simple-snack-bar')).toBeVisible();</a:t>
            </a:r>
            <a:br/>
            <a:r>
              <a:t>    </a:t>
            </a:r>
            <a:br/>
            <a:r>
              <a:t>    // Vérifier le panier</a:t>
            </a:r>
            <a:br/>
            <a:r>
              <a:t>    await page.locator('[aria-label="Show the shopping basket"]').click();</a:t>
            </a:r>
            <a:br/>
            <a:r>
              <a:t>    await expect(page.locator('mat-row')).toBeVisible();</a:t>
            </a:r>
            <a:br/>
            <a:r>
              <a:t>});</a:t>
            </a:r>
          </a:p>
        </p:txBody>
      </p:sp>
      <p:pic>
        <p:nvPicPr>
          <p:cNvPr id="5" name="Picture 4" descr="02_connexion_reussi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572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686244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 panose="020B0502040204020203"/>
              </a:defRPr>
            </a:pPr>
            <a:r>
              <a:t>🛒 </a:t>
            </a:r>
            <a:r>
              <a:rPr lang="en-US"/>
              <a:t> </a:t>
            </a:r>
            <a:r>
              <a:t>Test E2E - Gestion du Panier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5303520"/>
          </a:xfrm>
          <a:prstGeom prst="round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E0A0"/>
                </a:solidFill>
                <a:latin typeface="Consolas" panose="020B0609020204030204"/>
              </a:defRPr>
            </a:pPr>
            <a:r>
              <a:t>test('Ajout d\'un article au panier', async ({ page }) =&gt; {</a:t>
            </a:r>
            <a:br/>
            <a:r>
              <a:t>    // Navigation vers l'accueil</a:t>
            </a:r>
            <a:br/>
            <a:r>
              <a:t>    await page.goto('/#/');</a:t>
            </a:r>
            <a:br/>
            <a:r>
              <a:t>    </a:t>
            </a:r>
            <a:br/>
            <a:r>
              <a:t>    // Fermer les popups initiales</a:t>
            </a:r>
            <a:br/>
            <a:r>
              <a:t>    await page.locator('button[aria-label="Close Welcome Banner"]').click();</a:t>
            </a:r>
            <a:br/>
            <a:r>
              <a:t>    </a:t>
            </a:r>
            <a:br/>
            <a:r>
              <a:t>    // Connexion de l'utilisateur</a:t>
            </a:r>
            <a:br/>
            <a:r>
              <a:t>    await page.locator('#navbarAccount').click();</a:t>
            </a:r>
            <a:br/>
            <a:r>
              <a:t>    await page.locator('#navbarLoginButton').click();</a:t>
            </a:r>
            <a:br/>
            <a:r>
              <a:t>    await page.fill('input#email', 'admin@juice-sh.op');</a:t>
            </a:r>
            <a:br/>
            <a:r>
              <a:t>    await page.fill('input#password', 'admin123');</a:t>
            </a:r>
            <a:br/>
            <a:r>
              <a:t>    await page.click('button#loginButton');</a:t>
            </a:r>
            <a:br/>
            <a:r>
              <a:t>    </a:t>
            </a:r>
            <a:br/>
            <a:r>
              <a:t>    // Ajouter un produit au panier</a:t>
            </a:r>
            <a:br/>
            <a:r>
              <a:t>    await page.locator('button[aria-label="Add to Basket"]').first().click();</a:t>
            </a:r>
            <a:br/>
            <a:r>
              <a:t>    </a:t>
            </a:r>
            <a:br/>
            <a:r>
              <a:t>    // Vérifier la notification</a:t>
            </a:r>
            <a:br/>
            <a:r>
              <a:t>    await expect(page.locator('simple-snack-bar')).toBeVisible();</a:t>
            </a:r>
            <a:br/>
            <a:r>
              <a:t>    </a:t>
            </a:r>
            <a:br/>
            <a:r>
              <a:t>    // Vérifier le panier</a:t>
            </a:r>
            <a:br/>
            <a:r>
              <a:t>    await page.locator('[aria-label="Show the shopping basket"]').click();</a:t>
            </a:r>
            <a:br/>
            <a:r>
              <a:t>    await expect(page.locator('mat-row')).toBeVisible();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02_connexion_reussi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05" y="873760"/>
            <a:ext cx="7739380" cy="43535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28066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📊 </a:t>
            </a:r>
            <a:r>
              <a:rPr lang="en-US"/>
              <a:t> </a:t>
            </a:r>
            <a:r>
              <a:t>Résultats Obtenus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015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🎯 Résultats des Tests OWASP Juice Shop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✅ Tests E2E (Interface Utilisateur)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Ajout d'article au panier : PASSÉ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Suppression d'article : PASSÉ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Navigation et connexion : PASSÉ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✅ Tests API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GET /api/Products : PASSÉ (37 produits trouvés)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POST /rest/user/login : PASSÉ (JWT token reçu)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📈 Métriques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Taux de réussite : 100%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Durée moyenne par test : &lt; 5 secondes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Navigateur testé : Chromium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➡️ Rapport HTML disponible dans playwright-report/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109845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📝 </a:t>
            </a:r>
            <a:r>
              <a:rPr lang="en-US"/>
              <a:t> </a:t>
            </a:r>
            <a: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✅ À Faire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Utiliser des sélecteurs accessibles (getByRole, getByLabel)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Isoler les tests (chaque test indépendant)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Utiliser des fixtures pour les données de test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Configurer les retries en CI pour les tests flaky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Garder les tests rapides (&lt; 30 secondes)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❌ À Éviter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XPath complexes ou sélecteurs fragiles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Dépendances entre tests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Attentes hardcodées (await page.waitForTimeout)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Tests qui modifient l'état partagé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Ignorer les tests échoués sans investigation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23088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rPr>
                <a:solidFill>
                  <a:srgbClr val="2EAD33"/>
                </a:solidFill>
              </a:rPr>
              <a:t>8 Conclusion</a:t>
            </a:r>
            <a:endParaRPr>
              <a:solidFill>
                <a:srgbClr val="2EAD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🎭 Playwright est un outil moderne et puissant pour le test automatisé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✨ Points Forts Principaux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Installation simple et rapide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Support multi-navigateur natif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Auto-waiting intelligent et fiable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Rapports HTML riches et interactifs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Trace Viewer pour le débogage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Tests API intégrés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🚀 Cas d'Usage Idéaux 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Tests de régression automatisés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Tests E2E d'applications web modernes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Validation d'API REST/GraphQL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• Intégration continue (CI/CD)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💡 Playwright est particulièrement adapté aux applications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 panose="020B0502040204020203"/>
              </a:defRPr>
            </a:pPr>
            <a:r>
              <a:t>   SPA (Single Page Applications) comme Angular, React, Vue.js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691261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 panose="020B0502040204020203"/>
              </a:defRPr>
            </a:pPr>
            <a:r>
              <a:t>📚 </a:t>
            </a:r>
            <a:r>
              <a:rPr lang="en-US"/>
              <a:t> </a:t>
            </a:r>
            <a:r>
              <a:t>Ressources et Références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31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🔗 Liens Utiles 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Documentation Officielle : https://playwright.dev/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GitHub : https://github.com/microsoft/playwright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Playground : https://try.playwright.tech/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📖 Apprentissage 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Tutoriel Getting Started : playwright.dev/docs/intro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API Reference : playwright.dev/docs/api/class-page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Best Practices : playwright.dev/docs/best-practices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📦 Application Testée 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OWASP Juice Shop : https://owasp.org/www-project-juice-shop/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GitHub Juice Shop : github.com/juice-shop/juice-shop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endParaRPr sz="400"/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🛠️ Outils Complémentaires 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VS Code Extension : Playwright Test for VSCode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Segoe UI" panose="020B0502040204020203"/>
              </a:defRPr>
            </a:pPr>
            <a:r>
              <a:t>• Playwright Inspector : Débogage pas à pas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051800" cy="22834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6000" b="1">
                <a:solidFill>
                  <a:srgbClr val="2EAD33"/>
                </a:solidFill>
                <a:latin typeface="Segoe UI" panose="020B0502040204020203"/>
              </a:defRPr>
            </a:pPr>
            <a:r>
              <a:t>🙏 </a:t>
            </a:r>
            <a:r>
              <a:rPr lang="en-US"/>
              <a:t> </a:t>
            </a:r>
            <a:r>
              <a:rPr>
                <a:solidFill>
                  <a:srgbClr val="2EAD33"/>
                </a:solidFill>
              </a:rPr>
              <a:t>Merci </a:t>
            </a:r>
            <a:r>
              <a:rPr lang="en-US"/>
              <a:t>Pour Votre </a:t>
            </a:r>
            <a:endParaRPr lang="en-US"/>
          </a:p>
          <a:p>
            <a:pPr algn="ctr">
              <a:defRPr sz="6000" b="1">
                <a:solidFill>
                  <a:srgbClr val="2EAD33"/>
                </a:solidFill>
                <a:latin typeface="Segoe UI" panose="020B0502040204020203"/>
              </a:defRPr>
            </a:pPr>
            <a:r>
              <a:rPr lang="en-US"/>
              <a:t>Attention</a:t>
            </a:r>
            <a: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14562</Words>
  <Application>WPS Presentation</Application>
  <PresentationFormat>On-screen Show (4:3)</PresentationFormat>
  <Paragraphs>466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Arial</vt:lpstr>
      <vt:lpstr>SimSun</vt:lpstr>
      <vt:lpstr>Wingdings</vt:lpstr>
      <vt:lpstr>Arial</vt:lpstr>
      <vt:lpstr>Segoe UI</vt:lpstr>
      <vt:lpstr>Consolas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iheb</cp:lastModifiedBy>
  <cp:revision>5</cp:revision>
  <dcterms:created xsi:type="dcterms:W3CDTF">2013-01-27T09:14:00Z</dcterms:created>
  <dcterms:modified xsi:type="dcterms:W3CDTF">2026-02-05T15:56:03Z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144A1859C3BC440F9715851F963F134F_12</vt:lpwstr>
  </property>
  <property fmtid="{D5CDD505-2E9C-101B-9397-08002B2CF9AE}" pid="3" name="KSOProductBuildVer">
    <vt:lpwstr>1033-12.2.0.23196</vt:lpwstr>
  </property>
</Properties>
</file>